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ewsreader"/>
      <p:regular r:id="rId18"/>
      <p:bold r:id="rId19"/>
      <p:italic r:id="rId20"/>
      <p:boldItalic r:id="rId21"/>
    </p:embeddedFont>
    <p:embeddedFont>
      <p:font typeface="DM Sans Light"/>
      <p:regular r:id="rId22"/>
      <p:bold r:id="rId23"/>
      <p:italic r:id="rId24"/>
      <p:boldItalic r:id="rId25"/>
    </p:embeddedFont>
    <p:embeddedFont>
      <p:font typeface="DM Sans SemiBold"/>
      <p:regular r:id="rId26"/>
      <p:bold r:id="rId27"/>
      <p:italic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  <p:embeddedFont>
      <p:font typeface="Newsreader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33" Type="http://schemas.openxmlformats.org/officeDocument/2006/relationships/font" Target="fonts/DMSans-boldItalic.fntdata"/><Relationship Id="rId32" Type="http://schemas.openxmlformats.org/officeDocument/2006/relationships/font" Target="fonts/DMSans-italic.fntdata"/><Relationship Id="rId35" Type="http://schemas.openxmlformats.org/officeDocument/2006/relationships/font" Target="fonts/NewsreaderSemiBold-bold.fntdata"/><Relationship Id="rId34" Type="http://schemas.openxmlformats.org/officeDocument/2006/relationships/font" Target="fonts/NewsreaderSemiBold-regular.fntdata"/><Relationship Id="rId37" Type="http://schemas.openxmlformats.org/officeDocument/2006/relationships/font" Target="fonts/NewsreaderSemiBold-boldItalic.fntdata"/><Relationship Id="rId36" Type="http://schemas.openxmlformats.org/officeDocument/2006/relationships/font" Target="fonts/NewsreaderSemiBold-italic.fntdata"/><Relationship Id="rId20" Type="http://schemas.openxmlformats.org/officeDocument/2006/relationships/font" Target="fonts/Newsreader-italic.fntdata"/><Relationship Id="rId22" Type="http://schemas.openxmlformats.org/officeDocument/2006/relationships/font" Target="fonts/DMSansLight-regular.fntdata"/><Relationship Id="rId21" Type="http://schemas.openxmlformats.org/officeDocument/2006/relationships/font" Target="fonts/Newsreader-boldItalic.fntdata"/><Relationship Id="rId24" Type="http://schemas.openxmlformats.org/officeDocument/2006/relationships/font" Target="fonts/DMSansLight-italic.fntdata"/><Relationship Id="rId23" Type="http://schemas.openxmlformats.org/officeDocument/2006/relationships/font" Target="fonts/DMSansLight-bold.fntdata"/><Relationship Id="rId26" Type="http://schemas.openxmlformats.org/officeDocument/2006/relationships/font" Target="fonts/DMSansSemiBold-regular.fntdata"/><Relationship Id="rId25" Type="http://schemas.openxmlformats.org/officeDocument/2006/relationships/font" Target="fonts/DMSansLight-boldItalic.fntdata"/><Relationship Id="rId28" Type="http://schemas.openxmlformats.org/officeDocument/2006/relationships/font" Target="fonts/DMSansSemiBold-italic.fntdata"/><Relationship Id="rId27" Type="http://schemas.openxmlformats.org/officeDocument/2006/relationships/font" Target="fonts/DMSansSemiBold-bold.fntdata"/><Relationship Id="rId29" Type="http://schemas.openxmlformats.org/officeDocument/2006/relationships/font" Target="fonts/DMSa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ewsreader-bold.fntdata"/><Relationship Id="rId18" Type="http://schemas.openxmlformats.org/officeDocument/2006/relationships/font" Target="fonts/Newsread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33a7145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933a7145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933a7145d7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933a7145d7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933a7145d7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933a7145d7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933a7145d7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933a7145d7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bc928b468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bc928b468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933a7145d7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933a7145d7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933a7145d7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933a7145d7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933a7145d7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933a7145d7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933a7145d7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933a7145d7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933a7145d7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933a7145d7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c93c25e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bc93c25e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933a7145d7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933a7145d7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1975" y="681550"/>
            <a:ext cx="3860100" cy="26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iQuHack2026 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Entanglement Distillation Game</a:t>
            </a:r>
            <a:endParaRPr sz="3300"/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361975" y="3099879"/>
            <a:ext cx="3860100" cy="14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Georgia"/>
                <a:ea typeface="Georgia"/>
                <a:cs typeface="Georgia"/>
                <a:sym typeface="Georgia"/>
              </a:rPr>
              <a:t>Team Members- Achraf Boussahi, Abir Chekroun, Zakaria Lourghi, Archana Singh, Harman Kaur</a:t>
            </a:r>
            <a:endParaRPr i="1" sz="18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6"/>
          <p:cNvSpPr txBox="1"/>
          <p:nvPr>
            <p:ph type="title"/>
          </p:nvPr>
        </p:nvSpPr>
        <p:spPr>
          <a:xfrm>
            <a:off x="342150" y="3888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Statement-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Given a quantum network graph where:</a:t>
            </a:r>
            <a:endParaRPr sz="1600"/>
          </a:p>
          <a:p>
            <a:pPr indent="-260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●"/>
            </a:pPr>
            <a:r>
              <a:rPr lang="en" sz="1600"/>
              <a:t>Each edge contains noisy Bell pairs with unknown error characteristics</a:t>
            </a:r>
            <a:endParaRPr sz="1600"/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●"/>
            </a:pPr>
            <a:r>
              <a:rPr lang="en" sz="1600"/>
              <a:t>Each edge has a fidelity threshold that must be exceeded to claim it</a:t>
            </a:r>
            <a:endParaRPr sz="1600"/>
          </a:p>
          <a:p>
            <a:pPr indent="-260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●"/>
            </a:pPr>
            <a:r>
              <a:rPr lang="en" sz="1600"/>
              <a:t>We have a limited budget of Bell pairs for distillation attempts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56"/>
          <p:cNvSpPr txBox="1"/>
          <p:nvPr>
            <p:ph idx="3" type="subTitle"/>
          </p:nvPr>
        </p:nvSpPr>
        <p:spPr>
          <a:xfrm>
            <a:off x="342150" y="3180600"/>
            <a:ext cx="5537400" cy="149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latin typeface="Georgia"/>
                <a:ea typeface="Georgia"/>
                <a:cs typeface="Georgia"/>
                <a:sym typeface="Georgia"/>
              </a:rPr>
              <a:t>Goal- </a:t>
            </a:r>
            <a:r>
              <a:rPr i="1" lang="en" sz="15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Build the largest connected subgraph by designing distillation circuits that maximize fidelity while balancing success probability and resource consumption.</a:t>
            </a:r>
            <a:endParaRPr i="1" sz="15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5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A glass ceiling" id="478" name="Google Shape;478;p56"/>
          <p:cNvPicPr preferRelativeResize="0"/>
          <p:nvPr/>
        </p:nvPicPr>
        <p:blipFill rotWithShape="1">
          <a:blip r:embed="rId3">
            <a:alphaModFix/>
          </a:blip>
          <a:srcRect b="10955" l="0" r="0" t="10955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" name="Google Shape;479;p56"/>
          <p:cNvCxnSpPr/>
          <p:nvPr/>
        </p:nvCxnSpPr>
        <p:spPr>
          <a:xfrm>
            <a:off x="339150" y="2889174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7"/>
          <p:cNvSpPr txBox="1"/>
          <p:nvPr>
            <p:ph idx="2" type="body"/>
          </p:nvPr>
        </p:nvSpPr>
        <p:spPr>
          <a:xfrm>
            <a:off x="1957800" y="44884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486" name="Google Shape;486;p57"/>
          <p:cNvSpPr txBox="1"/>
          <p:nvPr>
            <p:ph type="title"/>
          </p:nvPr>
        </p:nvSpPr>
        <p:spPr>
          <a:xfrm>
            <a:off x="719400" y="369300"/>
            <a:ext cx="7705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203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Background / Key Concepts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7" name="Google Shape;487;p57"/>
          <p:cNvSpPr txBox="1"/>
          <p:nvPr/>
        </p:nvSpPr>
        <p:spPr>
          <a:xfrm>
            <a:off x="380100" y="909950"/>
            <a:ext cx="84597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88" name="Google Shape;488;p57" title="slide_3a_building_block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58"/>
          <p:cNvSpPr txBox="1"/>
          <p:nvPr>
            <p:ph type="title"/>
          </p:nvPr>
        </p:nvSpPr>
        <p:spPr>
          <a:xfrm>
            <a:off x="361975" y="217725"/>
            <a:ext cx="8608200" cy="475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203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5" name="Google Shape;495;p58" title="slide_3b_locc_distilla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9"/>
          <p:cNvSpPr txBox="1"/>
          <p:nvPr>
            <p:ph type="title"/>
          </p:nvPr>
        </p:nvSpPr>
        <p:spPr>
          <a:xfrm>
            <a:off x="399850" y="1430400"/>
            <a:ext cx="7615200" cy="338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9"/>
          <p:cNvSpPr txBox="1"/>
          <p:nvPr/>
        </p:nvSpPr>
        <p:spPr>
          <a:xfrm>
            <a:off x="499800" y="318050"/>
            <a:ext cx="56796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Georgia"/>
                <a:ea typeface="Georgia"/>
                <a:cs typeface="Georgia"/>
                <a:sym typeface="Georgia"/>
              </a:rPr>
              <a:t>BBPSSW Entanglement Distillation Protocol</a:t>
            </a:r>
            <a:r>
              <a:rPr lang="en" sz="1600">
                <a:latin typeface="Georgia"/>
                <a:ea typeface="Georgia"/>
                <a:cs typeface="Georgia"/>
                <a:sym typeface="Georgia"/>
              </a:rPr>
              <a:t>.</a:t>
            </a:r>
            <a:endParaRPr sz="1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02" name="Google Shape;502;p59" title="Screenshot 2026-02-01 at 9.33.5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026" y="994425"/>
            <a:ext cx="7769149" cy="392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8" name="Google Shape;508;p60"/>
          <p:cNvSpPr txBox="1"/>
          <p:nvPr>
            <p:ph type="title"/>
          </p:nvPr>
        </p:nvSpPr>
        <p:spPr>
          <a:xfrm>
            <a:off x="119450" y="1430400"/>
            <a:ext cx="4405500" cy="3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203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Insert </a:t>
            </a:r>
            <a:r>
              <a:rPr lang="en" sz="2200"/>
              <a:t>decision flowchart</a:t>
            </a:r>
            <a:endParaRPr sz="2200"/>
          </a:p>
        </p:txBody>
      </p:sp>
      <p:sp>
        <p:nvSpPr>
          <p:cNvPr id="509" name="Google Shape;509;p60"/>
          <p:cNvSpPr txBox="1"/>
          <p:nvPr/>
        </p:nvSpPr>
        <p:spPr>
          <a:xfrm>
            <a:off x="234725" y="26250"/>
            <a:ext cx="7504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Local operations for error correction</a:t>
            </a:r>
            <a:endParaRPr b="1" i="1" sz="2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3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0" name="Google Shape;510;p60"/>
          <p:cNvSpPr txBox="1"/>
          <p:nvPr/>
        </p:nvSpPr>
        <p:spPr>
          <a:xfrm>
            <a:off x="4876075" y="1487800"/>
            <a:ext cx="39006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11" name="Google Shape;511;p60"/>
          <p:cNvPicPr preferRelativeResize="0"/>
          <p:nvPr/>
        </p:nvPicPr>
        <p:blipFill rotWithShape="1">
          <a:blip r:embed="rId3">
            <a:alphaModFix/>
          </a:blip>
          <a:srcRect b="0" l="0" r="0" t="5482"/>
          <a:stretch/>
        </p:blipFill>
        <p:spPr>
          <a:xfrm>
            <a:off x="234925" y="536575"/>
            <a:ext cx="8768048" cy="431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1"/>
          <p:cNvSpPr txBox="1"/>
          <p:nvPr>
            <p:ph type="title"/>
          </p:nvPr>
        </p:nvSpPr>
        <p:spPr>
          <a:xfrm>
            <a:off x="361975" y="1066100"/>
            <a:ext cx="7898400" cy="371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1"/>
          <p:cNvSpPr txBox="1"/>
          <p:nvPr/>
        </p:nvSpPr>
        <p:spPr>
          <a:xfrm>
            <a:off x="369225" y="336650"/>
            <a:ext cx="76530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Our approach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18" name="Google Shape;518;p61" title="Our_Approach_Slid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62"/>
          <p:cNvSpPr txBox="1"/>
          <p:nvPr>
            <p:ph type="title"/>
          </p:nvPr>
        </p:nvSpPr>
        <p:spPr>
          <a:xfrm>
            <a:off x="361975" y="451725"/>
            <a:ext cx="3449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Georgia"/>
                <a:ea typeface="Georgia"/>
                <a:cs typeface="Georgia"/>
                <a:sym typeface="Georgia"/>
              </a:rPr>
              <a:t>    Results</a:t>
            </a:r>
            <a:endParaRPr b="1" i="1"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5" name="Google Shape;525;p62"/>
          <p:cNvSpPr txBox="1"/>
          <p:nvPr/>
        </p:nvSpPr>
        <p:spPr>
          <a:xfrm>
            <a:off x="282350" y="1107700"/>
            <a:ext cx="4398300" cy="3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Edges Claimed:0</a:t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Average Fidelity:0.85</a:t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Budget Efficiency:-</a:t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Current Rank:-</a:t>
            </a:r>
            <a:br>
              <a:rPr b="1"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b="1"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Claiming ('Boston, MA', 'Cambridge, MA') (threshold: 0.900)...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Success: </a:t>
            </a: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Fidelity: </a:t>
            </a:r>
            <a:r>
              <a:rPr b="1"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0.8500</a:t>
            </a: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(threshold: 0.9000)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Success probability: 0.5000</a:t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6" name="Google Shape;52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3026" y="823913"/>
            <a:ext cx="536257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2" name="Google Shape;532;p63"/>
          <p:cNvSpPr txBox="1"/>
          <p:nvPr>
            <p:ph type="title"/>
          </p:nvPr>
        </p:nvSpPr>
        <p:spPr>
          <a:xfrm>
            <a:off x="361975" y="451725"/>
            <a:ext cx="3449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Georgia"/>
                <a:ea typeface="Georgia"/>
                <a:cs typeface="Georgia"/>
                <a:sym typeface="Georgia"/>
              </a:rPr>
              <a:t> </a:t>
            </a:r>
            <a:endParaRPr b="1" i="1" sz="2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3" name="Google Shape;533;p63"/>
          <p:cNvSpPr txBox="1"/>
          <p:nvPr/>
        </p:nvSpPr>
        <p:spPr>
          <a:xfrm>
            <a:off x="282350" y="1107700"/>
            <a:ext cx="4398300" cy="3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34" name="Google Shape;534;p63" title="Screenshot 2026-02-01 at 9.51.3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650" y="721900"/>
            <a:ext cx="6998799" cy="390760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63"/>
          <p:cNvSpPr txBox="1"/>
          <p:nvPr/>
        </p:nvSpPr>
        <p:spPr>
          <a:xfrm>
            <a:off x="945100" y="290800"/>
            <a:ext cx="523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Approach 2</a:t>
            </a:r>
            <a:endParaRPr b="1"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6" name="Google Shape;536;p63"/>
          <p:cNvSpPr txBox="1"/>
          <p:nvPr/>
        </p:nvSpPr>
        <p:spPr>
          <a:xfrm>
            <a:off x="1054150" y="4780000"/>
            <a:ext cx="62793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Fidelity rate- 0.85</a:t>
            </a:r>
            <a:endParaRPr b="1"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42" name="Google Shape;542;p64"/>
          <p:cNvCxnSpPr/>
          <p:nvPr/>
        </p:nvCxnSpPr>
        <p:spPr>
          <a:xfrm>
            <a:off x="356100" y="3843349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3" name="Google Shape;543;p64" title="Conclusion_Slid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75" y="217725"/>
            <a:ext cx="7117573" cy="439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5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49" name="Google Shape;549;p65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5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65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2" name="Google Shape;552;p65" title="Future_Work_Slid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6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58" name="Google Shape;558;p66"/>
          <p:cNvSpPr txBox="1"/>
          <p:nvPr>
            <p:ph idx="1" type="subTitle"/>
          </p:nvPr>
        </p:nvSpPr>
        <p:spPr>
          <a:xfrm>
            <a:off x="451475" y="3776250"/>
            <a:ext cx="3370500" cy="7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